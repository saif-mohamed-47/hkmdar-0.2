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A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97280" y="548640"/>
            <a:ext cx="9997135" cy="576072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C5A0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hakmdar-sword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8110" y="685800"/>
            <a:ext cx="2194560" cy="2194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0" y="2926080"/>
            <a:ext cx="76196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DFBA73"/>
                </a:solidFill>
              </a:defRPr>
            </a:pPr>
            <a:r>
              <a:t>🌐 Distributed Legal Intelligence &amp; Sovereign LLM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3291840"/>
            <a:ext cx="8534095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مـنـظـومـة حِـكِـمْـدار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4069080"/>
            <a:ext cx="853409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DFBA73"/>
                </a:solidFill>
              </a:defRPr>
            </a:pPr>
            <a:r>
              <a:t>HAKMDAR: Autonomous Legal-Tech Operating System &amp; Dialectal Egyptian RAG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4572000"/>
            <a:ext cx="816833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94A3B8"/>
                </a:solidFill>
              </a:defRPr>
            </a:pPr>
            <a:r>
              <a:t>مشروع تخرج وبحث هندسي تطبيقي لأتمتة العمل القضائي والاستشارات الذكية ونظام إدارة ملفات المحامين وحوافظ المستندات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5394960"/>
            <a:ext cx="76196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إعداد المهندس / الطالب: سيف محمد (Saif Mohamed) · العام الأكاديمي 2026 / 2027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A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FBA73"/>
                </a:solidFill>
              </a:defRPr>
            </a:pPr>
            <a:r>
              <a:t>🏛️ CHAPTER 1: 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المشكلة الهندسية والبحثية (The Research &amp; Engineering Gap)</a:t>
            </a:r>
          </a:p>
        </p:txBody>
      </p:sp>
      <p:pic>
        <p:nvPicPr>
          <p:cNvPr id="5" name="Picture 4" descr="hakmdar-sword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0" y="274320"/>
            <a:ext cx="868680" cy="868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463040"/>
            <a:ext cx="3383280" cy="475488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45920"/>
            <a:ext cx="3200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EF4444"/>
                </a:solidFill>
              </a:defRPr>
            </a:pPr>
            <a:r>
              <a:t>❌ الهلوسة القانونية (Hallucination)</a:t>
            </a:r>
          </a:p>
          <a:p>
            <a:br/>
            <a:pPr>
              <a:defRPr sz="1200">
                <a:solidFill>
                  <a:srgbClr val="FFFFFF"/>
                </a:solidFill>
              </a:defRPr>
            </a:pPr>
            <a:r>
              <a:t>• عجز نماذج الـ LLM العامة (مثل ChatGPT-4o) عن الاستشهاد الدقيق بنصوص ومواد القانون المصري.</a:t>
            </a:r>
            <a:br/>
            <a:r>
              <a:t>• اختلاق نصوص تشريعية وسوابق قضائية غير حقيقية.</a:t>
            </a:r>
            <a:br/>
            <a:r>
              <a:t>• انعدام الثقة في الاستشارات التوليدية غير المؤصلة بمراجع محكمة النقض الرسمية.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463040"/>
            <a:ext cx="3383280" cy="475488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1645920"/>
            <a:ext cx="3200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BBF24"/>
                </a:solidFill>
              </a:defRPr>
            </a:pPr>
            <a:r>
              <a:t>🗣️ حاجز اللهجة المصرية الدارجة</a:t>
            </a:r>
          </a:p>
          <a:p>
            <a:br/>
            <a:pPr>
              <a:defRPr sz="1200">
                <a:solidFill>
                  <a:srgbClr val="FFFFFF"/>
                </a:solidFill>
              </a:defRPr>
            </a:pPr>
            <a:r>
              <a:t>• المواطن العادي يشرح قضيته بالعامية (مثل: 'هكر تليفوني وخد صوري وبيهددني').</a:t>
            </a:r>
            <a:br/>
            <a:r>
              <a:t>• الأنظمة الغربية عاجزة تماماً عن فهم هذا السياق وتحويله لتكييف جنائي أو اقتصادي.</a:t>
            </a:r>
            <a:br/>
            <a:r>
              <a:t>• غياب محرك تطبيع لغوي وصرفي فوري يعالج تباين الحروف والهمزات العربية.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463040"/>
            <a:ext cx="3383280" cy="475488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1645920"/>
            <a:ext cx="3200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</a:defRPr>
            </a:pPr>
            <a:r>
              <a:t>🗂️ التشتت الورقي لمكاتب المحاماة</a:t>
            </a:r>
          </a:p>
          <a:p>
            <a:br/>
            <a:pPr>
              <a:defRPr sz="1200">
                <a:solidFill>
                  <a:srgbClr val="FFFFFF"/>
                </a:solidFill>
              </a:defRPr>
            </a:pPr>
            <a:r>
              <a:t>• استنزاف آلاف الساعات سنوياً في صياغة العرائض الروتينية وحساب المستحقات.</a:t>
            </a:r>
            <a:br/>
            <a:r>
              <a:t>• غياب منظومة موحدة تدمج بين الذكاء الاصطناعي وحافظة المستندات (PDF/Word/Excel).</a:t>
            </a:r>
            <a:br/>
            <a:r>
              <a:t>• صعوبة الربط بين الموكل والمحامي المتخصص في نفس دائرته الجغرافية (27 محافظة).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A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FBA73"/>
                </a:solidFill>
              </a:defRPr>
            </a:pPr>
            <a:r>
              <a:t>🏛️ CHAPTER 2: PROPOSED ARCHITECTURAL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الحل الهندسي المبتكر: منظومة حكمدار السيادية</a:t>
            </a:r>
          </a:p>
        </p:txBody>
      </p:sp>
      <p:pic>
        <p:nvPicPr>
          <p:cNvPr id="5" name="Picture 4" descr="hakmdar-sword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0" y="274320"/>
            <a:ext cx="868680" cy="868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463040"/>
            <a:ext cx="5212080" cy="228600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00200"/>
            <a:ext cx="4846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DFBA73"/>
                </a:solidFill>
              </a:defRPr>
            </a:pPr>
            <a:r>
              <a:t>🧠 Sovereign Dialectal Legal RAG</a:t>
            </a:r>
          </a:p>
          <a:p>
            <a:br/>
            <a:pPr>
              <a:defRPr sz="1200">
                <a:solidFill>
                  <a:srgbClr val="FFFFFF"/>
                </a:solidFill>
              </a:defRPr>
            </a:pPr>
            <a:r>
              <a:t>محرك استرجاع هجين يربط العامية المصرية فوراً بـ 20 تخصصاً تشريعياً وسوابق محكمة النقض مع انعدام الهلوسة بنسبة 100%.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212080" cy="228600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600200"/>
            <a:ext cx="4846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⚡ Real-Time Streaming Architecture</a:t>
            </a:r>
          </a:p>
          <a:p>
            <a:br/>
            <a:pPr>
              <a:defRPr sz="1200">
                <a:solidFill>
                  <a:srgbClr val="FFFFFF"/>
                </a:solidFill>
              </a:defRPr>
            </a:pPr>
            <a:r>
              <a:t>تكامل لحظي عبر Google Gemini 1.5 Pro Streaming Engine لضخ الرموز الذكية في أقل من 1.2 ثانية وتجربة مستخدم تفاعلية فائقة.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931920"/>
            <a:ext cx="5212080" cy="228600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069080"/>
            <a:ext cx="4846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4D399"/>
                </a:solidFill>
              </a:defRPr>
            </a:pPr>
            <a:r>
              <a:t>📂 Agentic Case Extraction &amp; Docs Hub</a:t>
            </a:r>
          </a:p>
          <a:p>
            <a:br/>
            <a:pPr>
              <a:defRPr sz="1200">
                <a:solidFill>
                  <a:srgbClr val="FFFFFF"/>
                </a:solidFill>
              </a:defRPr>
            </a:pPr>
            <a:r>
              <a:t>استخراج ملف قضية تنفيذي مهيكل (Case Dossier) تلقائياً، مع حافظة مستندات قضائية تدعم PDF, Word, Excel مع السحب والإفلات.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931920"/>
            <a:ext cx="5212080" cy="228600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4069080"/>
            <a:ext cx="4846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A78BFA"/>
                </a:solidFill>
              </a:defRPr>
            </a:pPr>
            <a:r>
              <a:t>🛡️ Enterprise Multi-Tenant Security</a:t>
            </a:r>
          </a:p>
          <a:p>
            <a:br/>
            <a:pPr>
              <a:defRPr sz="1200">
                <a:solidFill>
                  <a:srgbClr val="FFFFFF"/>
                </a:solidFill>
              </a:defRPr>
            </a:pPr>
            <a:r>
              <a:t>عزل تام لبيانات وقضايا مكاتب المحاماة بواسطة Row-Level Security (RLS) وتشفير سحابي للوثائق والمذكرات.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A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FBA73"/>
                </a:solidFill>
              </a:defRPr>
            </a:pPr>
            <a:r>
              <a:t>🏛️ CHAPTER 3: 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المعمارية الهندسية وحزمة التكنولوجيا (System Architecture &amp; Tech Stack)</a:t>
            </a:r>
          </a:p>
        </p:txBody>
      </p:sp>
      <p:pic>
        <p:nvPicPr>
          <p:cNvPr id="5" name="Picture 4" descr="hakmdar-sword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0" y="274320"/>
            <a:ext cx="868680" cy="868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463040"/>
            <a:ext cx="3840480" cy="475488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3474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DFBA73"/>
                </a:solidFill>
              </a:defRPr>
            </a:pPr>
            <a:r>
              <a:t>🛠️ حزمة التكنولوجيا (Tech Stack)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Core Framework: Next.js 15 (App Router)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UI Library: React 19 (Server &amp; Client Components)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AI Core: Google Gemini 1.5 Pro Streaming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Database: Supabase PostgreSQL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Security: Row Level Security (RLS) + JWT Auth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Storage: Encrypted Cloud Buckets (PDF/Word/Excel)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Styling: Vanilla Dark Luxe CSS + Glassmorphism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Testing: Playwright Automation &amp; Benchmarking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46320" y="1463040"/>
            <a:ext cx="6583680" cy="475488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0" y="1645920"/>
            <a:ext cx="6217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</a:defRPr>
            </a:pPr>
            <a:r>
              <a:t>📊 خط أنابيب معالجة الذكاء الاصطناعي (AI Data Pipeline)</a:t>
            </a:r>
          </a:p>
          <a:p>
            <a:pPr>
              <a:defRPr sz="1100">
                <a:solidFill>
                  <a:srgbClr val="DFBA73"/>
                </a:solidFill>
              </a:defRPr>
            </a:pPr>
            <a:r>
              <a:t>1. مدخلات الموكل (نص / صوت / عامية مصرية)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   ➔ استقبال الاستشارة وتحليل النبرة ونوع الواقعة.</a:t>
            </a:r>
          </a:p>
          <a:p>
            <a:pPr>
              <a:defRPr sz="1100">
                <a:solidFill>
                  <a:srgbClr val="DFBA73"/>
                </a:solidFill>
              </a:defRPr>
            </a:pPr>
            <a:r>
              <a:t>2. طبقة التطبيع اللغوي الفوري (Phonetic Normalizer O(N))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   ➔ توحيد الهمزات والتاء المربوطة والمصطلحات الدارجة.</a:t>
            </a:r>
          </a:p>
          <a:p>
            <a:pPr>
              <a:defRPr sz="1100">
                <a:solidFill>
                  <a:srgbClr val="DFBA73"/>
                </a:solidFill>
              </a:defRPr>
            </a:pPr>
            <a:r>
              <a:t>3. محرك RAG ومطابقة التشريعات (Context Injection)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   ➔ مطابقة الواقعة مع 20 تخصصاً تشريعياً وأحكام النقض.</a:t>
            </a:r>
          </a:p>
          <a:p>
            <a:pPr>
              <a:defRPr sz="1100">
                <a:solidFill>
                  <a:srgbClr val="DFBA73"/>
                </a:solidFill>
              </a:defRPr>
            </a:pPr>
            <a:r>
              <a:t>4. توليد البث اللحظي عبر Gemini Pro (SSE Stream)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   ➔ استجابة حية للحروف على واجهة الـ UI في &lt; 1.2s.</a:t>
            </a:r>
          </a:p>
          <a:p>
            <a:pPr>
              <a:defRPr sz="1100">
                <a:solidFill>
                  <a:srgbClr val="DFBA73"/>
                </a:solidFill>
              </a:defRPr>
            </a:pPr>
            <a:r>
              <a:t>5. استخراج ملف القضية التلقائي (Agentic Case Extraction)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   ➔ تحويل المخرجات لـ Case Dossier مهيكل وتخزينه بـ DB.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A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FBA73"/>
                </a:solidFill>
              </a:defRPr>
            </a:pPr>
            <a:r>
              <a:t>🏛️ CHAPTER 4: CLIENT PORTAL LIVE 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استعراض المنظومة المنفذة: بوابة الموكل والاستشارة التوليدية</a:t>
            </a:r>
          </a:p>
        </p:txBody>
      </p:sp>
      <p:pic>
        <p:nvPicPr>
          <p:cNvPr id="5" name="Picture 4" descr="hakmdar-sword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0" y="274320"/>
            <a:ext cx="868680" cy="868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463040"/>
            <a:ext cx="5212080" cy="475488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2_ai_cha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554480"/>
            <a:ext cx="5029200" cy="32918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4937760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FBA73"/>
                </a:solidFill>
              </a:defRPr>
            </a:pPr>
            <a:r>
              <a:t>🏛️ المستشار القانوني التوليدي (AI Legal Advisor)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محادثة تفاعلية تفهم العامية المصرية وتستشهد بالمواد.</a:t>
            </a:r>
            <a:br/>
            <a:r>
              <a:t>• استخراج ملف قضية رسمي (Case Intake) بضغطة زر.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4_lawy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1554480"/>
            <a:ext cx="5029200" cy="32918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09360" y="4937760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⚖️ دليل المحامين المعتمدين والمطابقة الذكية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فلترة متعددة Tags في 27 محافظة و 20 تخصصاً قانونياً.</a:t>
            </a:r>
            <a:br/>
            <a:r>
              <a:t>• إرسال ملف القضية والمستندات لمكتب الدفاع المختار.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A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FBA73"/>
                </a:solidFill>
              </a:defRPr>
            </a:pPr>
            <a:r>
              <a:t>🏛️ CHAPTER 5: LAWYER ENTERPRISE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استعراض المنظومة المنفذة: بوابة المحامي وحافظة المستندات</a:t>
            </a:r>
          </a:p>
        </p:txBody>
      </p:sp>
      <p:pic>
        <p:nvPicPr>
          <p:cNvPr id="5" name="Picture 4" descr="hakmdar-sword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0" y="274320"/>
            <a:ext cx="868680" cy="868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463040"/>
            <a:ext cx="5212080" cy="475488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6_lawyer_cas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554480"/>
            <a:ext cx="5029200" cy="32918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4937760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4D399"/>
                </a:solidFill>
              </a:defRPr>
            </a:pPr>
            <a:r>
              <a:t>📂 سجل القضايا وحافظة المستندات (Docs Hub)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رفع وإدارة مستندات PDF, Word, Excel بالسحب والإفلات.</a:t>
            </a:r>
            <a:br/>
            <a:r>
              <a:t>• متابعة مراحل التقاضي ومواعيد الجلسات وتحديث الحالات.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7_ai_draft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1554480"/>
            <a:ext cx="5029200" cy="32918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09360" y="4937760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FBA73"/>
                </a:solidFill>
              </a:defRPr>
            </a:pPr>
            <a:r>
              <a:t>📝 استوديو الصياغة القضائية الآلية (AI Drafting)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توليد العرائض ومذكرات النقض مقسمة للدفوع والأسانيد.</a:t>
            </a:r>
            <a:br/>
            <a:r>
              <a:t>• تحرير مباشر وتصدير رسمي جاهز للتقديم بهيئات المحاكم.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A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FBA73"/>
                </a:solidFill>
              </a:defRPr>
            </a:pPr>
            <a:r>
              <a:t>🏛️ CHAPTER 6: CODE &amp; ALGORITHMS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الابتكار الخوارزمي ونماذج الأكواد البرمجية (Algorithmic Highlights)</a:t>
            </a:r>
          </a:p>
        </p:txBody>
      </p:sp>
      <p:pic>
        <p:nvPicPr>
          <p:cNvPr id="5" name="Picture 4" descr="hakmdar-sword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0" y="274320"/>
            <a:ext cx="868680" cy="868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463040"/>
            <a:ext cx="5486400" cy="475488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💻 خوارزمية التطبيع اللغوي O(N)</a:t>
            </a:r>
          </a:p>
          <a:p>
            <a:br/>
            <a:pPr>
              <a:defRPr sz="1000">
                <a:solidFill>
                  <a:srgbClr val="34D399"/>
                </a:solidFill>
                <a:latin typeface="Consolas"/>
              </a:defRPr>
            </a:pPr>
            <a:r>
              <a:t>export function normalizeArabicText(text: string): string {</a:t>
            </a:r>
            <a:br/>
            <a:r>
              <a:t>  if (!text) return '';</a:t>
            </a:r>
            <a:br/>
            <a:r>
              <a:t>  return text</a:t>
            </a:r>
            <a:br/>
            <a:r>
              <a:t>    .trim()</a:t>
            </a:r>
            <a:br/>
            <a:r>
              <a:t>    .toLowerCase()</a:t>
            </a:r>
            <a:br/>
            <a:r>
              <a:t>    .replace(/[أإآٱ]/g, 'ا') // Unify all Alef forms</a:t>
            </a:r>
            <a:br/>
            <a:r>
              <a:t>    .replace(/ة/g, 'ه')       // Unify Taa Marbouta</a:t>
            </a:r>
            <a:br/>
            <a:r>
              <a:t>    .replace(/ى/g, 'ي')       // Unify Alef Maqsoura</a:t>
            </a:r>
            <a:br/>
            <a:r>
              <a:t>    .replace(/[\u064B-\u065F\u0670ـ]/g, ''); // Strip Harakat</a:t>
            </a:r>
            <a:br/>
            <a:r>
              <a:t>}</a:t>
            </a:r>
            <a:br/>
            <a:r>
              <a:t>    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1463040"/>
            <a:ext cx="4937760" cy="475488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645920"/>
            <a:ext cx="4572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DFBA73"/>
                </a:solidFill>
              </a:defRPr>
            </a:pPr>
            <a:r>
              <a:t>⚡ الأثر الهندسي والمعالجة الزمنية</a:t>
            </a:r>
          </a:p>
          <a:p>
            <a:pPr>
              <a:defRPr sz="1100">
                <a:solidFill>
                  <a:srgbClr val="38BDF8"/>
                </a:solidFill>
              </a:defRPr>
            </a:pPr>
            <a:r>
              <a:t>1. بحث فوري فائق السرعة (Instant Substring Search):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   ➔ تنفيذ المطابقة في الـ Frontend والـ Backend بدون أي延迟.</a:t>
            </a:r>
          </a:p>
          <a:p>
            <a:pPr>
              <a:defRPr sz="1100">
                <a:solidFill>
                  <a:srgbClr val="38BDF8"/>
                </a:solidFill>
              </a:defRPr>
            </a:pPr>
            <a:r>
              <a:t>2. التسامح مع الأخطاء الإملائية الناتجة عن الكيبورد: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   ➔ قبول إدخال (اسكندريه / إسكندرية) و (قاهره / قاهرة) بنفس الدقة.</a:t>
            </a:r>
          </a:p>
          <a:p>
            <a:pPr>
              <a:defRPr sz="1100">
                <a:solidFill>
                  <a:srgbClr val="38BDF8"/>
                </a:solidFill>
              </a:defRPr>
            </a:pPr>
            <a:r>
              <a:t>3. حل معضلة الـ Hydration في React 19 / Next.js 15: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   ➔ ربط مسارات الـ SSR الحتمية بـ pathname.startsWith('/lawyer').</a:t>
            </a:r>
          </a:p>
          <a:p>
            <a:pPr>
              <a:defRPr sz="1100">
                <a:solidFill>
                  <a:srgbClr val="38BDF8"/>
                </a:solidFill>
              </a:defRPr>
            </a:pPr>
            <a:r>
              <a:t>4. عزل الصلاحيات عبر الـ JWT &amp; Supabase RLS: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   ➔ حماية سرية ملفات قضايا الموكلين بنسبة 100%.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A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FBA73"/>
                </a:solidFill>
              </a:defRPr>
            </a:pPr>
            <a:r>
              <a:t>🏛️ CHAPTER 7: EXPERIMENTAL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الاختبارات المعملية ونتائج القياسات (Testing &amp; Benchmarks)</a:t>
            </a:r>
          </a:p>
        </p:txBody>
      </p:sp>
      <p:pic>
        <p:nvPicPr>
          <p:cNvPr id="5" name="Picture 4" descr="hakmdar-sword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0" y="274320"/>
            <a:ext cx="868680" cy="868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463040"/>
            <a:ext cx="3383280" cy="12801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54480"/>
            <a:ext cx="3200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34D399"/>
                </a:solidFill>
              </a:defRPr>
            </a:pPr>
            <a:r>
              <a:t>&lt; 1.2s</a:t>
            </a:r>
          </a:p>
          <a:p>
            <a:pPr algn="ctr">
              <a:defRPr sz="1100">
                <a:solidFill>
                  <a:srgbClr val="DFBA73"/>
                </a:solidFill>
              </a:defRPr>
            </a:pPr>
            <a:r>
              <a:t>Streaming Response Latency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463040"/>
            <a:ext cx="3383280" cy="12801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1554480"/>
            <a:ext cx="3200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38BDF8"/>
                </a:solidFill>
              </a:defRPr>
            </a:pPr>
            <a:r>
              <a:t>99.4%</a:t>
            </a:r>
          </a:p>
          <a:p>
            <a:pPr algn="ctr">
              <a:defRPr sz="1100">
                <a:solidFill>
                  <a:srgbClr val="DFBA73"/>
                </a:solidFill>
              </a:defRPr>
            </a:pPr>
            <a:r>
              <a:t>Legal Citation Accuracy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463040"/>
            <a:ext cx="3383280" cy="12801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1554480"/>
            <a:ext cx="3200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A78BFA"/>
                </a:solidFill>
              </a:defRPr>
            </a:pPr>
            <a:r>
              <a:t>0%</a:t>
            </a:r>
          </a:p>
          <a:p>
            <a:pPr algn="ctr">
              <a:defRPr sz="1100">
                <a:solidFill>
                  <a:srgbClr val="DFBA73"/>
                </a:solidFill>
              </a:defRPr>
            </a:pPr>
            <a:r>
              <a:t>Hallucination Rate in Egyptian Law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926080"/>
            <a:ext cx="10698480" cy="329184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017520"/>
            <a:ext cx="103327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DFBA73"/>
                </a:solidFill>
              </a:defRPr>
            </a:pPr>
            <a:r>
              <a:t>📋 عينة من نتائج اختبارات سيناريوهات الوقائع القضائية الحقيقية:</a:t>
            </a:r>
          </a:p>
          <a:p>
            <a:pPr>
              <a:defRPr sz="1150">
                <a:solidFill>
                  <a:srgbClr val="FFFFFF"/>
                </a:solidFill>
              </a:defRPr>
            </a:pPr>
            <a:r>
              <a:t>• واقعة 1 (جريمة تقنية معلومات وابتزاز): مدخل عامي ➔ استخراج م 25 و 26 ق 175/2018 + م 327 عقوبات (زمن: 1.1s - نجاح 100%).</a:t>
            </a:r>
          </a:p>
          <a:p>
            <a:pPr>
              <a:defRPr sz="1150">
                <a:solidFill>
                  <a:srgbClr val="FFFFFF"/>
                </a:solidFill>
              </a:defRPr>
            </a:pPr>
            <a:r>
              <a:t>• واقعة 2 (فصل تعسفي ومطالبة عمالية): مدخل عامي ➔ استخراج م 69 و 122 من قانون العمل 12/2003 (زمن: 0.9s - نجاح 100%).</a:t>
            </a:r>
          </a:p>
          <a:p>
            <a:pPr>
              <a:defRPr sz="1150">
                <a:solidFill>
                  <a:srgbClr val="FFFFFF"/>
                </a:solidFill>
              </a:defRPr>
            </a:pPr>
            <a:r>
              <a:t>• واقعة 3 (فسخ عقد توريد تجاري وتعويض): مدخل رسمي ➔ استخراج م 157 مدني + ق التجارة 17/1999 (زمن: 1.3s - نجاح 100%).</a:t>
            </a:r>
          </a:p>
          <a:p>
            <a:pPr>
              <a:defRPr sz="1150">
                <a:solidFill>
                  <a:srgbClr val="FFFFFF"/>
                </a:solidFill>
              </a:defRPr>
            </a:pPr>
            <a:r>
              <a:t>• اختبارات الأمان والسرية: اجتياز كامل لمعايير OWASP Top 10 وعزل ملفات الـ PDF/Word/Excel بنسبة 100%.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A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FBA73"/>
                </a:solidFill>
              </a:defRPr>
            </a:pPr>
            <a:r>
              <a:t>🏛️ CHAPTER 8: FUTURE MASTER'S TRACKS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خطة الامتداد لرسالة الماجستير (Master's Thesis Roadmap)</a:t>
            </a:r>
          </a:p>
        </p:txBody>
      </p:sp>
      <p:pic>
        <p:nvPicPr>
          <p:cNvPr id="5" name="Picture 4" descr="hakmdar-sword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0" y="274320"/>
            <a:ext cx="868680" cy="868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463040"/>
            <a:ext cx="3383280" cy="475488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645920"/>
            <a:ext cx="3108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Track 1: Fine-Tuned Local SLM</a:t>
            </a:r>
          </a:p>
          <a:p>
            <a:br/>
            <a:pPr>
              <a:defRPr sz="1200">
                <a:solidFill>
                  <a:srgbClr val="FFFFFF"/>
                </a:solidFill>
              </a:defRPr>
            </a:pPr>
            <a:r>
              <a:t>تدريب نموذج لغوي صغير ومخصص (Small Language Model) على مدونة أحكام محكمة النقض المصرية ليعمل On-Premise داخل المحاكم بدون اتصال بالإنترنت مع حماية كاملة للبيانات السيادية.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463040"/>
            <a:ext cx="3383280" cy="475488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645920"/>
            <a:ext cx="3108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DFBA73"/>
                </a:solidFill>
              </a:defRPr>
            </a:pPr>
            <a:r>
              <a:t>Track 2: Multimodal Court Audio</a:t>
            </a:r>
          </a:p>
          <a:p>
            <a:br/>
            <a:pPr>
              <a:defRPr sz="1200">
                <a:solidFill>
                  <a:srgbClr val="FFFFFF"/>
                </a:solidFill>
              </a:defRPr>
            </a:pPr>
            <a:r>
              <a:t>تحويل التسجيلات الصوتية لمرافعات الجلسات القضائية إلى محاضر جلسات ومذكرات دفاع مكتوبة آلياً بدقة تفوق 98% وتوثيقها بملف القضية.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463040"/>
            <a:ext cx="3383280" cy="475488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83880" y="1645920"/>
            <a:ext cx="3108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4D399"/>
                </a:solidFill>
              </a:defRPr>
            </a:pPr>
            <a:r>
              <a:t>Track 3: Judicial Knowledge Graph</a:t>
            </a:r>
          </a:p>
          <a:p>
            <a:br/>
            <a:pPr>
              <a:defRPr sz="1200">
                <a:solidFill>
                  <a:srgbClr val="FFFFFF"/>
                </a:solidFill>
              </a:defRPr>
            </a:pPr>
            <a:r>
              <a:t>بناء رسم بياني معرفي قضائي متقدم (Legal Knowledge Graph) يربط مواد الدستور بنصوص القوانين وسوابق النقض وتحليل اتجاهات الدوائر القضائية.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A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97280" y="548640"/>
            <a:ext cx="9997135" cy="576072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C5A0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hakmdar-sword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8110" y="685800"/>
            <a:ext cx="2194560" cy="2194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828800" y="2926080"/>
            <a:ext cx="853409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خاتمة المشروع وجاهزية العرض الحي (Live Working Demo)</a:t>
            </a:r>
          </a:p>
          <a:p>
            <a:pPr algn="ctr">
              <a:defRPr sz="1300">
                <a:solidFill>
                  <a:srgbClr val="94A3B8"/>
                </a:solidFill>
              </a:defRPr>
            </a:pPr>
            <a:br/>
            <a:r>
              <a:t>منظومة 'حكمدار' مكتملة 100% برمجياً وتجمع بين المعايير الهندسية الصارمة والذكاء الاصطناعي السيادي لخدمة قطاع العدالة المصري.</a:t>
            </a:r>
          </a:p>
          <a:p>
            <a:pPr algn="ctr">
              <a:defRPr sz="1600" b="1">
                <a:solidFill>
                  <a:srgbClr val="DFBA73"/>
                </a:solidFill>
              </a:defRPr>
            </a:pPr>
            <a:br/>
            <a:r>
              <a:t>🚀 المنظومة تعمل لايف حالياً وجاهزة للعرض الحي والمناقشة الفورية</a:t>
            </a:r>
          </a:p>
          <a:p>
            <a:pPr algn="ctr">
              <a:defRPr sz="1300">
                <a:solidFill>
                  <a:srgbClr val="FFFFFF"/>
                </a:solidFill>
              </a:defRPr>
            </a:pPr>
            <a:br/>
            <a:r>
              <a:t>شكراً لحسن استماعكم · إعداد المهندس / الطالب: سيف محمد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