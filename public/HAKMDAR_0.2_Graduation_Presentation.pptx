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548640"/>
            <a:ext cx="9997135" cy="5760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110" y="7315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971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FBA73"/>
                </a:solidFill>
              </a:defRPr>
            </a:pPr>
            <a:r>
              <a:t>🌐 Distributed Legal Intelligence &amp; Sovereign LLM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37560"/>
            <a:ext cx="85340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مـنـظـومـة حِـكِـمْـدار 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340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DFBA73"/>
                </a:solidFill>
              </a:defRPr>
            </a:pPr>
            <a:r>
              <a:t>HAKMDAR 0.2: Autonomous Legal-Tech Operating System &amp; Dialectal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617720"/>
            <a:ext cx="8168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مشروع تخرج وبحث هندسي تطبيقي لأتمتة العمل القضائي والاستشارات الذكية ونظام إدارة ملفات المحامين وحوافظ المستندات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440680"/>
            <a:ext cx="7619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إعداد المهندس / الطالب: سيف محمد (Saif Mohamed) · العام الأكاديمي 2026 /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1: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المشكلة الهندسية والبحثية (The Research &amp; Engineering Gap)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68680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❌ الهلوسة القانونية (Hallucination)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عجز نماذج الـ LLM العامة (مثل ChatGPT-4o) عن الاستشهاد الدقيق بنصوص ومواد القانون المصري.</a:t>
            </a:r>
            <a:br/>
            <a:r>
              <a:t>• اختلاق نصوص تشريعية وسوابق قضائية غير حقيقية.</a:t>
            </a:r>
            <a:br/>
            <a:r>
              <a:t>• انعدام الثقة في الاستشارات التوليدية غير المؤصلة بمراجع محكمة النقض الرسمية.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🗣️ حاجز اللهجة المصرية الدارجة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المواطن العادي يشرح قضيته بالعامية (مثل: 'هكر تليفوني وخد صوري وبيهددني').</a:t>
            </a:r>
            <a:br/>
            <a:r>
              <a:t>• الأنظمة الغربية عاجزة تماماً عن فهم هذا السياق وتحويله لتكييف جنائي أو اقتصادي.</a:t>
            </a:r>
            <a:br/>
            <a:r>
              <a:t>• غياب محرك تطبيع لغوي وصرفي فوري يعالج تباين الحروف والهمزات العربية.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🗂️ التشتت الورقي لمكاتب المحاماة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استنزاف آلاف الساعات سنوياً في صياغة العرائض الروتينية وحساب المستحقات.</a:t>
            </a:r>
            <a:br/>
            <a:r>
              <a:t>• غياب منظومة موحدة تدمج بين الذكاء الاصطناعي وحافظة المستندات (PDF/Word/Excel).</a:t>
            </a:r>
            <a:br/>
            <a:r>
              <a:t>• صعوبة الربط بين الموكل والمحامي المتخصص في نفس دائرته الجغرافية (27 محافظة).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2: PROPOSED ARCHITECTURAL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الحل الهندسي المبتكر: منظومة حكمدار 0.2 السيادية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68680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FBA73"/>
                </a:solidFill>
              </a:defRPr>
            </a:pPr>
            <a:r>
              <a:t>🧠 Sovereign Dialectal Legal RAG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محرك استرجاع هجين يربط العامية المصرية فوراً بـ 20 تخصصاً تشريعياً وسوابق محكمة النقض مع انعدام الهلوسة بنسبة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⚡ Real-Time Streaming Architecture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تكامل لحظي عبر Google Gemini 1.5 Pro Streaming Engine لضخ الرموز الذكية في أقل من 1.2 ثانية وتجربة مستخدم تفاعلية فائقة.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📂 Agentic Case Extraction &amp; Docs Hub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استخراج ملف قضية تنفيذي مهيكل (Case Dossier) تلقائياً، مع حافظة مستندات قضائية تدعم PDF, Word, Excel مع السحب والإفلات.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78BFA"/>
                </a:solidFill>
              </a:defRPr>
            </a:pPr>
            <a:r>
              <a:t>🛡️ Enterprise Multi-Tenant Security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عزل تام لبيانات وقضايا مكاتب المحاماة بواسطة Row-Level Security (RLS) وتشفير سحابي للوثائق والمذكرات.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3: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المعمارية الهندسية وحزمة التكنولوجيا (System Architecture &amp; Tech Stack)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68680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8404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FBA73"/>
                </a:solidFill>
              </a:defRPr>
            </a:pPr>
            <a:r>
              <a:t>🛠️ حزمة التكنولوجيا (Tech Stack)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Core Framework: Next.js 15 (App Router)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UI Library: React 19 (Server &amp; Client Components)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AI Core: Google Gemini 1.5 Pro Streaming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Database: Supabase PostgreSQL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Security: Row Level Security (RLS) + JWT Auth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Storage: Encrypted Cloud Buckets (PDF/Word/Excel)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Styling: Vanilla Dark Luxe CSS + Glassmorphism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Testing: Playwright Automation &amp; Benchmarking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63040"/>
            <a:ext cx="65836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📊 خط أنابيب معالجة الذكاء الاصطناعي (AI Data Pipeline)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1. مدخلات الموكل (نص / صوت / عامية مصرية)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استقبال الاستشارة وتحليل النبرة ونوع الواقعة.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2. طبقة التطبيع اللغوي الفوري (Phonetic Normalizer O(N))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توحيد الهمزات والتاء المربوطة والمصطلحات الدارجة.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3. محرك RAG ومطابقة التشريعات (Context Injection)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مطابقة الواقعة مع 20 تخصصاً تشريعياً وأحكام النقض.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4. توليد البث اللحظي عبر Gemini Pro (SSE Stream)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استجابة حية للحروف على واجهة الـ UI في &lt; 1.2s.</a:t>
            </a:r>
          </a:p>
          <a:p>
            <a:pPr>
              <a:defRPr sz="1100">
                <a:solidFill>
                  <a:srgbClr val="DFBA73"/>
                </a:solidFill>
              </a:defRPr>
            </a:pPr>
            <a:r>
              <a:t>5. استخراج ملف القضية التلقائي (Agentic Case Extraction)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تحويل المخرجات لـ Case Dossier مهيكل وتخزينه بـ DB.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4: CLIENT PORTAL LIVE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استعراض المنظومة المنفذة: بوابة الموكل والاستشارة التوليدية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68680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ai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502920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937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FBA73"/>
                </a:solidFill>
              </a:defRPr>
            </a:pPr>
            <a:r>
              <a:t>🏛️ المستشار القانوني التوليدي (AI Legal Advisor)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محادثة تفاعلية تفهم العامية المصرية وتستشهد بالمواد.</a:t>
            </a:r>
            <a:br/>
            <a:r>
              <a:t>• استخراج ملف قضية رسمي (Case Intake) بضغطة زر.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law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02920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4937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⚖️ دليل المحامين المعتمدين والمطابقة الذكية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فلترة متعددة Tags في 27 محافظة و 20 تخصصاً قانونياً.</a:t>
            </a:r>
            <a:br/>
            <a:r>
              <a:t>• إرسال ملف القضية والمستندات لمكتب الدفاع المختار.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5: LAWYER ENTERPRISE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استعراض المنظومة المنفذة: بوابة المحامي وحافظة المستندات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68680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lawyer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502920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937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📂 سجل القضايا وحافظة المستندات (Docs Hub)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رفع وإدارة مستندات PDF, Word, Excel بالسحب والإفلات.</a:t>
            </a:r>
            <a:br/>
            <a:r>
              <a:t>• متابعة مراحل التقاضي ومواعيد الجلسات وتحديث الحالات.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ai_draf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02920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4937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FBA73"/>
                </a:solidFill>
              </a:defRPr>
            </a:pPr>
            <a:r>
              <a:t>📝 استوديو الصياغة القضائية الآلية (AI Drafting)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توليد العرائض ومذكرات النقض مقسمة للدفوع والأسانيد.</a:t>
            </a:r>
            <a:br/>
            <a:r>
              <a:t>• تحرير مباشر وتصدير رسمي جاهز للتقديم بهيئات المحاكم.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6: CODE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الابتكار الخوارزمي ونماذج الأكواد البرمجية (Algorithmic Highlights)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68680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💻 خوارزمية التطبيع اللغوي O(N)</a:t>
            </a:r>
          </a:p>
          <a:p>
            <a:br/>
            <a:pPr>
              <a:defRPr sz="1000">
                <a:solidFill>
                  <a:srgbClr val="34D399"/>
                </a:solidFill>
                <a:latin typeface="Consolas"/>
              </a:defRPr>
            </a:pPr>
            <a:r>
              <a:t>export function normalizeArabicText(text: string): string {</a:t>
            </a:r>
            <a:br/>
            <a:r>
              <a:t>  if (!text) return '';</a:t>
            </a:r>
            <a:br/>
            <a:r>
              <a:t>  return text</a:t>
            </a:r>
            <a:br/>
            <a:r>
              <a:t>    .trim()</a:t>
            </a:r>
            <a:br/>
            <a:r>
              <a:t>    .toLowerCase()</a:t>
            </a:r>
            <a:br/>
            <a:r>
              <a:t>    .replace(/[أإآٱ]/g, 'ا') // Unify all Alef forms</a:t>
            </a:r>
            <a:br/>
            <a:r>
              <a:t>    .replace(/ة/g, 'ه')       // Unify Taa Marbouta</a:t>
            </a:r>
            <a:br/>
            <a:r>
              <a:t>    .replace(/ى/g, 'ي')       // Unify Alef Maqsoura</a:t>
            </a:r>
            <a:br/>
            <a:r>
              <a:t>    .replace(/[\u064B-\u065F\u0670ـ]/g, ''); // Strip Harakat</a:t>
            </a:r>
            <a:br/>
            <a:r>
              <a:t>}</a:t>
            </a:r>
            <a:br/>
            <a:r>
              <a:t>  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FBA73"/>
                </a:solidFill>
              </a:defRPr>
            </a:pPr>
            <a:r>
              <a:t>⚡ الأثر الهندسي والمعالجة الزمنية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1. بحث فوري فائق السرعة (Instant Substring Search):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تنفيذ المطابقة في الـ Frontend والـ Backend بدون أي延迟.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2. التسامح مع الأخطاء الإملائية الناتجة عن الكيبورد: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قبول إدخال (اسكندريه / إسكندرية) و (قاهره / قاهرة) بنفس الدقة.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3. حل معضلة الـ Hydration في React 19 / Next.js 15: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ربط مسارات الـ SSR الحتمية بـ pathname.startsWith('/lawyer').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4. عزل الصلاحيات عبر الـ JWT &amp; Supabase RLS: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➔ حماية سرية ملفات قضايا الموكلين بنسبة 100%.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7: EXPERIMENTAL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الاختبارات المعملية ونتائج القياسات (Testing &amp; Benchmarks)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68680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383280" cy="1280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</a:defRPr>
            </a:pPr>
            <a:r>
              <a:t>&lt; 1.2s</a:t>
            </a:r>
          </a:p>
          <a:p>
            <a:pPr algn="ctr">
              <a:defRPr sz="1100">
                <a:solidFill>
                  <a:srgbClr val="DFBA73"/>
                </a:solidFill>
              </a:defRPr>
            </a:pPr>
            <a:r>
              <a:t>Streaming Response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280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99.4%</a:t>
            </a:r>
          </a:p>
          <a:p>
            <a:pPr algn="ctr">
              <a:defRPr sz="1100">
                <a:solidFill>
                  <a:srgbClr val="DFBA73"/>
                </a:solidFill>
              </a:defRPr>
            </a:pPr>
            <a:r>
              <a:t>Legal Citation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1280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</a:defRPr>
            </a:pPr>
            <a:r>
              <a:t>0%</a:t>
            </a:r>
          </a:p>
          <a:p>
            <a:pPr algn="ctr">
              <a:defRPr sz="1100">
                <a:solidFill>
                  <a:srgbClr val="DFBA73"/>
                </a:solidFill>
              </a:defRPr>
            </a:pPr>
            <a:r>
              <a:t>Hallucination Rate in Egyptian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698480" cy="3291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FBA73"/>
                </a:solidFill>
              </a:defRPr>
            </a:pPr>
            <a:r>
              <a:t>📋 عينة من نتائج اختبارات سيناريوهات الوقائع القضائية الحقيقية: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واقعة 1 (جريمة تقنية معلومات وابتزاز): مدخل عامي ➔ استخراج م 25 و 26 ق 175/2018 + م 327 عقوبات (زمن: 1.1s - نجاح 100%).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واقعة 2 (فصل تعسفي ومطالبة عمالية): مدخل عامي ➔ استخراج م 69 و 122 من قانون العمل 12/2003 (زمن: 0.9s - نجاح 100%).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واقعة 3 (فسخ عقد توريد تجاري وتعويض): مدخل رسمي ➔ استخراج م 157 مدني + ق التجارة 17/1999 (زمن: 1.3s - نجاح 100%).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اختبارات الأمان والسرية: اجتياز كامل لمعايير OWASP Top 10 وعزل ملفات الـ PDF/Word/Excel بنسبة 100%.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FBA73"/>
                </a:solidFill>
              </a:defRPr>
            </a:pPr>
            <a:r>
              <a:t>🏛️ CHAPTER 8: FUTURE MASTER'S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خطة الامتداد لرسالة الماجستير (Master's Thesis Roadmap)</a:t>
            </a:r>
          </a:p>
        </p:txBody>
      </p:sp>
      <p:pic>
        <p:nvPicPr>
          <p:cNvPr id="5" name="Picture 4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868680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Track 1: Fine-Tuned Local SLM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تدريب نموذج لغوي صغير ومخصص (Small Language Model) على مدونة أحكام محكمة النقض المصرية ليعمل On-Premise داخل المحاكم بدون اتصال بالإنترنت مع حماية كاملة للبيانات السيادية.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FBA73"/>
                </a:solidFill>
              </a:defRPr>
            </a:pPr>
            <a:r>
              <a:t>Track 2: Multimodal Court Audio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تحويل التسجيلات الصوتية لمرافعات الجلسات القضائية إلى محاضر جلسات ومذكرات دفاع مكتوبة آلياً بدقة تفوق 98% وتوثيقها بملف القضية.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Track 3: Judicial Knowledge Graph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بناء رسم بياني معرفي قضائي متقدم (Legal Knowledge Graph) يربط مواد الدستور بنصوص القوانين وسوابق النقض وتحليل اتجاهات الدوائر القضائية.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548640"/>
            <a:ext cx="9997135" cy="5760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kmdar-swor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110" y="7315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926080"/>
            <a:ext cx="85340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خاتمة المشروع وجاهزية العرض الحي (Live Working Demo)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br/>
            <a:r>
              <a:t>منظومة 'حكمدار 0.2' مكتملة 100% برمجياً وتجمع بين المعايير الهندسية الصارمة والذكاء الاصطناعي السيادي لخدمة قطاع العدالة المصري.</a:t>
            </a:r>
          </a:p>
          <a:p>
            <a:pPr algn="ctr">
              <a:defRPr sz="1600" b="1">
                <a:solidFill>
                  <a:srgbClr val="DFBA73"/>
                </a:solidFill>
              </a:defRPr>
            </a:pPr>
            <a:br/>
            <a:r>
              <a:t>🚀 المنظومة تعمل لايف حالياً وجاهزة للعرض الحي والمناقشة الفورية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br/>
            <a:r>
              <a:t>شكراً لحسن استماعكم · إعداد المهندس / الطالب: سيف محمد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